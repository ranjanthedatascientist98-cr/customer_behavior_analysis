
<file path=[Content_Types].xml><?xml version="1.0" encoding="utf-8"?>
<Types xmlns="http://schemas.openxmlformats.org/package/2006/content-types">
  <Default Extension="photo-1460925895917-afdab827c52f" ContentType="image/photo-1460925895917-afdab827c52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DF-4906-B6BA-324A06BBAE0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DF-4906-B6BA-324A06BBAE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DF-4906-B6BA-324A06BBAE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00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6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B"/>
                </a:solidFill>
                <a:latin typeface="Arial"/>
              </a:rPr>
              <a:t>Top 5 Products by Review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AA-4965-A7F9-FB99104819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9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A2-4AD7-8C73-CC8AB73ACFF5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A2-4AD7-8C73-CC8AB73ACF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A2-4AD7-8C73-CC8AB73ACF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A2-4AD7-8C73-CC8AB73ACF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Non-Subscribers (No)</c:v>
                </c:pt>
                <c:pt idx="1">
                  <c:v>Subscribers (Yes)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A2-4AD7-8C73-CC8AB73ACF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0C4D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6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4B"/>
                </a:solidFill>
                <a:latin typeface="Arial"/>
              </a:rPr>
              <a:t>Customer Loyalty Segments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CF9-44AF-A82D-C83D6D8B58ED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F9-44AF-A82D-C83D6D8B58ED}"/>
              </c:ext>
            </c:extLst>
          </c:dPt>
          <c:dPt>
            <c:idx val="2"/>
            <c:bubble3D val="0"/>
            <c:spPr>
              <a:solidFill>
                <a:srgbClr val="C084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F9-44AF-A82D-C83D6D8B58E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F9-44AF-A82D-C83D6D8B58E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F9-44AF-A82D-C83D6D8B58E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CF9-44AF-A82D-C83D6D8B58E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 (11+ purchases)</c:v>
                </c:pt>
                <c:pt idx="1">
                  <c:v>Returning (2-10)</c:v>
                </c:pt>
                <c:pt idx="2">
                  <c:v>New (1 purchase)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CF9-44AF-A82D-C83D6D8B5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4B"/>
                </a:solidFill>
                <a:latin typeface="Arial"/>
              </a:rPr>
              <a:t>Revenue by Age Group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25-4544-B4F7-A3E5832E984F}"/>
              </c:ext>
            </c:extLst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25-4544-B4F7-A3E5832E984F}"/>
              </c:ext>
            </c:extLst>
          </c:dPt>
          <c:dPt>
            <c:idx val="2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25-4544-B4F7-A3E5832E984F}"/>
              </c:ext>
            </c:extLst>
          </c:dPt>
          <c:dPt>
            <c:idx val="3"/>
            <c:invertIfNegative val="0"/>
            <c:bubble3D val="0"/>
            <c:spPr>
              <a:solidFill>
                <a:srgbClr val="A5F3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25-4544-B4F7-A3E5832E98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Young-Adult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B25-4544-B4F7-A3E5832E98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6B-4ABD-B536-55DE7687B57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6B-4ABD-B536-55DE7687B571}"/>
              </c:ext>
            </c:extLst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6B-4ABD-B536-55DE7687B57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6B-4ABD-B536-55DE7687B5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6B-4ABD-B536-55DE7687B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6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02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hoto-1460925895917-afdab827c52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28600"/>
            <a:ext cx="164592" cy="164592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28600"/>
            <a:ext cx="164592" cy="164592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28600"/>
            <a:ext cx="164592" cy="164592"/>
          </a:xfrm>
          <a:prstGeom prst="ellipse">
            <a:avLst/>
          </a:prstGeom>
          <a:solidFill>
            <a:srgbClr val="0891B2">
              <a:alpha val="5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28600"/>
            <a:ext cx="164592" cy="164592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28600"/>
            <a:ext cx="164592" cy="164592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14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Shopping Patterns, Revenue Drivers,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Strategic Customer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 |  Python  |  Power BI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— Data Analyst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Chittaranjan Mohapatra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548640"/>
            <a:ext cx="2743200" cy="4023360"/>
          </a:xfrm>
          <a:prstGeom prst="rect">
            <a:avLst/>
          </a:prstGeom>
          <a:solidFill>
            <a:srgbClr val="112266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 |  2026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D0BE65A-AA25-D5A1-6A5A-92712171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566" y="-11430"/>
            <a:ext cx="3311434" cy="496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data wrangling, MySQL for EDA, and Power BI for interactive dashboards — a complete modern analytics pipeline.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109728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 records across 18 features including demographics, purchase history, behavior, and shipping preferences.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109728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3101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strategic opportunities for revenue growth by analyzing shopping patterns, subscription behavior, and product performance.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109728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3101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 to optimize marketing, refine subscriptions, improve cross-selling, and drive acquisition of new customer segments.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2560320" cy="137160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2560320" cy="137160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560320" cy="137160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560320" cy="2194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14600"/>
            <a:ext cx="25603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328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Location · Subscription 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514600"/>
            <a:ext cx="2560320" cy="2194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2514600"/>
            <a:ext cx="25603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5328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9260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Category · Amount · Season · Size · Color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514600"/>
            <a:ext cx="2560320" cy="2194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514600"/>
            <a:ext cx="25603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328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· Promo Codes · Frequency · Reviews · Shipping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002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Imputation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 ratings algorithmically imputed using median rating per product category. Ensuring statistical integrity across 37 null values.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0292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8132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segmented into Young-Adult, Adult, Middle-Aged, Seniors. Purchase frequency strings mapped to numeric day intervals for time-series evaluation.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5204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015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standardized to snake_case. Refined dataset pushed to MySQL via SQLAlchemy for agile, efficient querying.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50292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5204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4015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targeted SQL queries crafted to answer strategic business questions around revenue, customers, products, and subscriptions.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ANALYSIS: REVENUE BY GENDER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82296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3017520" cy="15087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896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of total revenue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514600"/>
            <a:ext cx="3017520" cy="15087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5877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94360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 of total 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4206240"/>
            <a:ext cx="30175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Revenue gap of $82,699 — untapped female market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RATINGS &amp; DISCOUNT-DEPENDENT ITEMS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463040"/>
            <a:ext cx="25603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463040"/>
            <a:ext cx="2327564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2075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121408"/>
            <a:ext cx="25603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5989320" y="2121408"/>
            <a:ext cx="2311736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0" y="20756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734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779776"/>
            <a:ext cx="25603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9320" y="2779776"/>
            <a:ext cx="2284271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27340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0" y="33924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9320" y="3438144"/>
            <a:ext cx="25603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5989320" y="3438144"/>
            <a:ext cx="2242375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8595360" y="33924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4096512"/>
            <a:ext cx="25603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1"/>
          <p:cNvSpPr/>
          <p:nvPr/>
        </p:nvSpPr>
        <p:spPr>
          <a:xfrm>
            <a:off x="5989320" y="4096512"/>
            <a:ext cx="2205134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8595360" y="4050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4526280"/>
            <a:ext cx="4114800" cy="4114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84632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Nearly 50% of purchases on these items use discounts — margin risk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77240"/>
          <a:ext cx="4114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777240"/>
            <a:ext cx="3840480" cy="123444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8503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0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1709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1,053 of 3,900 customers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2194560"/>
            <a:ext cx="3840480" cy="123444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22677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02920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– Subscribers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 average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0" y="3611880"/>
            <a:ext cx="3840480" cy="123444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0" y="36850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029200" y="4270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– Non-Subscribers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4544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spend difference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37760" y="4709160"/>
            <a:ext cx="384048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4727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confirmed: subscribers do NOT spend more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AGE GROUP REVENUE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80% of customers are Loyal (11+ purchases)  |  Young Adults lead revenue at $62,143  |  Only 83 new customers — acquisition gap!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&amp; SHIPPING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08960" cy="123444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 avg purchase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customers prefer express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194560"/>
            <a:ext cx="3108960" cy="123444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$58.46 avg purchase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5216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difference vs express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Per Category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1965960" cy="868680"/>
          </a:xfrm>
          <a:prstGeom prst="rect">
            <a:avLst/>
          </a:prstGeom>
          <a:solidFill>
            <a:srgbClr val="11226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453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· Sunglasses · Belt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06040" y="4114800"/>
            <a:ext cx="1965960" cy="868680"/>
          </a:xfrm>
          <a:prstGeom prst="rect">
            <a:avLst/>
          </a:prstGeom>
          <a:solidFill>
            <a:srgbClr val="112266"/>
          </a:solidFill>
          <a:ln/>
        </p:spPr>
      </p:sp>
      <p:sp>
        <p:nvSpPr>
          <p:cNvPr id="18" name="Text 15"/>
          <p:cNvSpPr/>
          <p:nvPr/>
        </p:nvSpPr>
        <p:spPr>
          <a:xfrm>
            <a:off x="269748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97480" y="4453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· Pants · Shirt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4114800"/>
            <a:ext cx="1965960" cy="868680"/>
          </a:xfrm>
          <a:prstGeom prst="rect">
            <a:avLst/>
          </a:prstGeom>
          <a:solidFill>
            <a:srgbClr val="112266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4453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· Shoes · Sneakers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903720" y="4114800"/>
            <a:ext cx="1965960" cy="868680"/>
          </a:xfrm>
          <a:prstGeom prst="rect">
            <a:avLst/>
          </a:prstGeom>
          <a:solidFill>
            <a:srgbClr val="112266"/>
          </a:solidFill>
          <a:ln/>
        </p:spPr>
      </p:sp>
      <p:sp>
        <p:nvSpPr>
          <p:cNvPr id="24" name="Text 21"/>
          <p:cNvSpPr/>
          <p:nvPr/>
        </p:nvSpPr>
        <p:spPr>
          <a:xfrm>
            <a:off x="699516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95160" y="4453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· Coat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KEY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2024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19202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/5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914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914400"/>
            <a:ext cx="1920240" cy="20116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31720"/>
            <a:ext cx="4114800" cy="34747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761488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~$104K — highest revenue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both revenue ($62K) and sales volume (1,028)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generate $170,436 vs subscribers' $62,645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female customers are enrolled in subscriptions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 of 3.75/5 shows room for improvement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</p:txBody>
      </p:sp>
      <p:pic>
        <p:nvPicPr>
          <p:cNvPr id="24" name="Image 0" descr="https://images.unsplash.com/photo-1460925895917-afdab827c52f?w=600&amp;q=8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2331720"/>
            <a:ext cx="4114800" cy="2514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37760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provides on-demand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stakeholders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603A40D-C888-9739-B8BE-CC92ACC2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31721"/>
            <a:ext cx="4114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INSIGHT: THE FEMALE SUBSCRIBER GAP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3749040" cy="841248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850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female customers are enrolled in subscriptions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374904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Female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Accessories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392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848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Clothing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556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1,181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Footwear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199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Outerwear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101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223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Female-Dominated Products Bought by Males: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2801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12801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9"/>
          <p:cNvSpPr/>
          <p:nvPr/>
        </p:nvSpPr>
        <p:spPr>
          <a:xfrm>
            <a:off x="6675120" y="1344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19659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0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19659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26517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2651760"/>
            <a:ext cx="1920240" cy="530352"/>
          </a:xfrm>
          <a:prstGeom prst="rect">
            <a:avLst/>
          </a:prstGeom>
          <a:solidFill>
            <a:srgbClr val="3B1F5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3474720"/>
            <a:ext cx="4206240" cy="137160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Hypothesis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63440" y="3886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purchase female-oriented items as gifts. The company captures the buyer but misses the end user — a missed acquisition and subscription opportunity.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069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Shopping 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'Gifts for Her', 'Birthday Collection', 'Valentine's Collection' to drive higher cart value and improve conversion rates by 5-10%.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0698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04488" y="1069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Profiling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checkout option: 'Is this for Myself / Wife / Girlfriend / Daughter / Mother?' to identify actual end users for targeted marketing.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1069848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1069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Referral-Based Acquisition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'Share this gift and get 20% off her first subscription.' Convert male buyers into brand ambassadors who introduce female end users.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0358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8408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Fashion Membership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reward points, couple discounts, birthday rewards, and early access sales for a strong multi-user retention strategy.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30358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04488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Premium Club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express shipping, exclusive launches, early access, fashion recommendations, loyalty rewards, and influencer perks.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303580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30358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Growth Target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5+ purchase non-subscribers via free shipping, cashback offers. Goal: grow from 7.3% to 15% within 6 months.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54680" y="1508760"/>
            <a:ext cx="320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 1-2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338328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Quick Wins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Gloves, Sandals &amp; Boots as quality-certified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discount strategy for Hat, Sneakers, Coat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top-rated items with avg-rated for cart uplift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320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83280" y="914400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 2-4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06040" cy="338328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Onboarding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social ads targeting Young Adults &amp; Middle-Aged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15% first-purchase incentive for new customers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recipient profiling at checkout for gift buyers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4-6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06040" cy="338328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Retention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Women's Premium Club subscription tier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program: male buyers introduce female users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5+ purchase non-subscribers with perks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731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Grow subscription rate from 7.3% → 15%  |  Increase female subscriber base from 0% → 20%  |  5-10% AOV uplift via bundles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241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" y="173736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imputation (37 missing values)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487168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(age cohorts, frequency mapping)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3236976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Cross-tabulations &amp; gender-product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986784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statistical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74320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6012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0241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55848" y="17373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483864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strategic business queries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2487168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483864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subqueries, window functions (DENSE_RANK, ROW_NUMBER)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3236976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483864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aggregations, segmentation logic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3986784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483864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WHEN, GROUP BY, ORDER BY, LIMIT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960120"/>
            <a:ext cx="274320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960120"/>
            <a:ext cx="2743200" cy="6400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102412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81928" y="1737360"/>
            <a:ext cx="54864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multi-filter dashboard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1928" y="2487168"/>
            <a:ext cx="54864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9944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donut charts, bar charts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81928" y="3236976"/>
            <a:ext cx="54864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9944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Cross-report filtering by gender, category, shipping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81928" y="3986784"/>
            <a:ext cx="54864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6" name="Text 34"/>
          <p:cNvSpPr/>
          <p:nvPr/>
        </p:nvSpPr>
        <p:spPr>
          <a:xfrm>
            <a:off x="6409944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visual storytelling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4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61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Strong Loyalty 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loyal customers (11+ purchases) — proven foundation for premium subscription tiers and retention campaigns.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61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Subscription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4996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subscription rate with zero female subscribers — massive untapped revenue potential requiring targeted intervention.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31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Category Power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at ~$104K revenue — increase inventory investment and targeted promotions in this category.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267712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31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Discount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6700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discount usage on Hat, Sneakers, Coat — requires profitability analysis to protect margins.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502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Acquisition Opportunity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 new customers — invest in digital acquisition (social ads, referrals) targeting Young Adult and Middle-Aged segments.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438144"/>
            <a:ext cx="4160520" cy="1051560"/>
          </a:xfrm>
          <a:prstGeom prst="rect">
            <a:avLst/>
          </a:prstGeom>
          <a:solidFill>
            <a:srgbClr val="11226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02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Full-Cycle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data → Python → MySQL → Power BI demonstrates production-ready data analyst capabilities.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Chittaranjan Mohapatra  ·  Data Analyst Portfolio  ·  Tools: SQL | Python |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1191</Words>
  <Application>Microsoft Office PowerPoint</Application>
  <PresentationFormat>On-screen Show (16:9)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 Report</dc:title>
  <dc:subject>PptxGenJS Presentation</dc:subject>
  <dc:creator>Chittaranjan Mohapatra</dc:creator>
  <cp:lastModifiedBy>Chittaranjan Mohapatra</cp:lastModifiedBy>
  <cp:revision>4</cp:revision>
  <dcterms:created xsi:type="dcterms:W3CDTF">2026-06-07T11:47:24Z</dcterms:created>
  <dcterms:modified xsi:type="dcterms:W3CDTF">2026-06-08T02:10:57Z</dcterms:modified>
</cp:coreProperties>
</file>